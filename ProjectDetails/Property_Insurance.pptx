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7548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0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flipH="1">
            <a:off x="5029200" y="0"/>
            <a:ext cx="1188720" cy="5143500"/>
          </a:xfrm>
          <a:prstGeom prst="rtTriangle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46520" y="502920"/>
            <a:ext cx="1005840" cy="1005840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704088"/>
            <a:ext cx="603504" cy="6035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691640"/>
            <a:ext cx="868680" cy="868680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1865376"/>
            <a:ext cx="521208" cy="5212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629400" y="2834640"/>
            <a:ext cx="822960" cy="82296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2999232"/>
            <a:ext cx="493776" cy="49377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909560" y="3657600"/>
            <a:ext cx="685800" cy="685800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794760"/>
            <a:ext cx="411480" cy="41148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492240" y="4160520"/>
            <a:ext cx="594360" cy="59436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4279392"/>
            <a:ext cx="356616" cy="35661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74320" y="502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5600" dirty="0"/>
          </a:p>
        </p:txBody>
      </p:sp>
      <p:sp>
        <p:nvSpPr>
          <p:cNvPr id="16" name="Text 9"/>
          <p:cNvSpPr/>
          <p:nvPr/>
        </p:nvSpPr>
        <p:spPr>
          <a:xfrm>
            <a:off x="274320" y="1280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SYSTEM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17" name="Shape 10"/>
          <p:cNvSpPr/>
          <p:nvPr/>
        </p:nvSpPr>
        <p:spPr>
          <a:xfrm>
            <a:off x="274320" y="2011680"/>
            <a:ext cx="4937760" cy="36576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1"/>
          <p:cNvSpPr/>
          <p:nvPr/>
        </p:nvSpPr>
        <p:spPr>
          <a:xfrm>
            <a:off x="274320" y="2103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Full Stack Insurance Management Platform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169164" y="409018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By: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0" name="Text 13"/>
          <p:cNvSpPr/>
          <p:nvPr/>
        </p:nvSpPr>
        <p:spPr>
          <a:xfrm>
            <a:off x="1383206" y="4086665"/>
            <a:ext cx="15861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Srinidhi</a:t>
            </a: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at Hartford India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Text 21"/>
          <p:cNvSpPr/>
          <p:nvPr/>
        </p:nvSpPr>
        <p:spPr>
          <a:xfrm>
            <a:off x="274320" y="4681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System  ·  .NET 8 + Angular (v20+)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51206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01168" y="749808"/>
            <a:ext cx="59436" cy="4041648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84048" y="8595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84048" y="11704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automating the entire lifecycle of property insurance — from customer onboarding through risk calculation to claim settlement and rewards.</a:t>
            </a:r>
            <a:endParaRPr lang="en-US" sz="11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47088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" y="1828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Registration &amp; Login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17627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" y="21579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Browsing &amp; Request Submission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505456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Assignment &amp; Risk Calculation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834640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0080" y="28163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Approval Workflow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163824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40080" y="31455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Filing &amp; Verification</a:t>
            </a:r>
            <a:endParaRPr lang="en-US" sz="11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493008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40080" y="34747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Generation</a:t>
            </a:r>
            <a:endParaRPr lang="en-US" sz="11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822192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40080" y="38039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Reward System</a:t>
            </a:r>
            <a:endParaRPr lang="en-US" sz="11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151376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40080" y="4133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Mode UI</a:t>
            </a:r>
            <a:endParaRPr lang="en-US" sz="11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480560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40080" y="44622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100" dirty="0"/>
          </a:p>
        </p:txBody>
      </p:sp>
      <p:sp>
        <p:nvSpPr>
          <p:cNvPr id="31" name="Shape 19"/>
          <p:cNvSpPr/>
          <p:nvPr/>
        </p:nvSpPr>
        <p:spPr>
          <a:xfrm>
            <a:off x="5541264" y="749808"/>
            <a:ext cx="1554480" cy="1773936"/>
          </a:xfrm>
          <a:prstGeom prst="rect">
            <a:avLst/>
          </a:prstGeom>
          <a:solidFill>
            <a:srgbClr val="2A1520"/>
          </a:solidFill>
          <a:ln w="12700">
            <a:solidFill>
              <a:srgbClr val="2A152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0"/>
          <p:cNvSpPr/>
          <p:nvPr/>
        </p:nvSpPr>
        <p:spPr>
          <a:xfrm>
            <a:off x="5541264" y="1097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33" name="Text 21"/>
          <p:cNvSpPr/>
          <p:nvPr/>
        </p:nvSpPr>
        <p:spPr>
          <a:xfrm>
            <a:off x="5541264" y="179222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34" name="Shape 22"/>
          <p:cNvSpPr/>
          <p:nvPr/>
        </p:nvSpPr>
        <p:spPr>
          <a:xfrm>
            <a:off x="7260336" y="749808"/>
            <a:ext cx="1554480" cy="1773936"/>
          </a:xfrm>
          <a:prstGeom prst="rect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23"/>
          <p:cNvSpPr/>
          <p:nvPr/>
        </p:nvSpPr>
        <p:spPr>
          <a:xfrm>
            <a:off x="7260336" y="1097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3600" dirty="0"/>
          </a:p>
        </p:txBody>
      </p:sp>
      <p:sp>
        <p:nvSpPr>
          <p:cNvPr id="36" name="Text 24"/>
          <p:cNvSpPr/>
          <p:nvPr/>
        </p:nvSpPr>
        <p:spPr>
          <a:xfrm>
            <a:off x="7260336" y="179222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37" name="Shape 25"/>
          <p:cNvSpPr/>
          <p:nvPr/>
        </p:nvSpPr>
        <p:spPr>
          <a:xfrm>
            <a:off x="5541264" y="2706624"/>
            <a:ext cx="1554480" cy="1773936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26"/>
          <p:cNvSpPr/>
          <p:nvPr/>
        </p:nvSpPr>
        <p:spPr>
          <a:xfrm>
            <a:off x="5541264" y="305409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39" name="Text 27"/>
          <p:cNvSpPr/>
          <p:nvPr/>
        </p:nvSpPr>
        <p:spPr>
          <a:xfrm>
            <a:off x="5541264" y="37490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Entities</a:t>
            </a:r>
            <a:endParaRPr lang="en-US" sz="1000" dirty="0"/>
          </a:p>
        </p:txBody>
      </p:sp>
      <p:sp>
        <p:nvSpPr>
          <p:cNvPr id="40" name="Shape 28"/>
          <p:cNvSpPr/>
          <p:nvPr/>
        </p:nvSpPr>
        <p:spPr>
          <a:xfrm>
            <a:off x="7260336" y="2706624"/>
            <a:ext cx="1554480" cy="1773936"/>
          </a:xfrm>
          <a:prstGeom prst="rect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29"/>
          <p:cNvSpPr/>
          <p:nvPr/>
        </p:nvSpPr>
        <p:spPr>
          <a:xfrm>
            <a:off x="7260336" y="305409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</a:t>
            </a:r>
            <a:endParaRPr lang="en-US" sz="3600" dirty="0"/>
          </a:p>
        </p:txBody>
      </p:sp>
      <p:sp>
        <p:nvSpPr>
          <p:cNvPr id="42" name="Text 30"/>
          <p:cNvSpPr/>
          <p:nvPr/>
        </p:nvSpPr>
        <p:spPr>
          <a:xfrm>
            <a:off x="7260336" y="37490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Features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Clean Architecture (4-Layer)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System  ·   .NET 8 + Angular (v20+)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56032" y="786384"/>
            <a:ext cx="4114800" cy="658368"/>
          </a:xfrm>
          <a:prstGeom prst="rect">
            <a:avLst/>
          </a:prstGeom>
          <a:solidFill>
            <a:srgbClr val="2A1520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14400"/>
            <a:ext cx="393192" cy="393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8503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41248" y="115214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· Enums · BaseEntity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696212" y="14538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1664208"/>
            <a:ext cx="3657600" cy="658368"/>
          </a:xfrm>
          <a:prstGeom prst="rect">
            <a:avLst/>
          </a:prstGeom>
          <a:solidFill>
            <a:srgbClr val="A0002A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92224"/>
            <a:ext cx="393192" cy="3931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42416" y="17282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042416" y="20299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· DTOs · Business Logic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737360" y="2331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58368" y="2542032"/>
            <a:ext cx="3200400" cy="658368"/>
          </a:xfrm>
          <a:prstGeom prst="rect">
            <a:avLst/>
          </a:prstGeom>
          <a:solidFill>
            <a:srgbClr val="800020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2670048"/>
            <a:ext cx="393192" cy="3931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43584" y="2606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243584" y="290779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DbContext · AuthService · JwtToken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778508" y="3209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59536" y="3419856"/>
            <a:ext cx="2743200" cy="658368"/>
          </a:xfrm>
          <a:prstGeom prst="rect">
            <a:avLst/>
          </a:prstGeom>
          <a:solidFill>
            <a:srgbClr val="800020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3547872"/>
            <a:ext cx="393192" cy="3931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44752" y="34838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1444752" y="378561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Controllers · 25+ Endpoints · Swagger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566928" y="4384548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4956048" y="786384"/>
            <a:ext cx="3977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4"/>
          <p:cNvSpPr/>
          <p:nvPr/>
        </p:nvSpPr>
        <p:spPr>
          <a:xfrm>
            <a:off x="4956048" y="786384"/>
            <a:ext cx="59436" cy="768096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5"/>
          <p:cNvSpPr/>
          <p:nvPr/>
        </p:nvSpPr>
        <p:spPr>
          <a:xfrm>
            <a:off x="5084064" y="960120"/>
            <a:ext cx="420624" cy="420624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189" y="1044245"/>
            <a:ext cx="252374" cy="25237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577840" y="8778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5577840" y="11887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a single defined role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4956048" y="1709928"/>
            <a:ext cx="3977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29"/>
          <p:cNvSpPr/>
          <p:nvPr/>
        </p:nvSpPr>
        <p:spPr>
          <a:xfrm>
            <a:off x="4956048" y="1709928"/>
            <a:ext cx="59436" cy="768096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0"/>
          <p:cNvSpPr/>
          <p:nvPr/>
        </p:nvSpPr>
        <p:spPr>
          <a:xfrm>
            <a:off x="5084064" y="1883664"/>
            <a:ext cx="420624" cy="420624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8189" y="1967789"/>
            <a:ext cx="252374" cy="25237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577840" y="18013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Maintainable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5577840" y="21122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without breaking existing code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4956048" y="2633472"/>
            <a:ext cx="3977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34"/>
          <p:cNvSpPr/>
          <p:nvPr/>
        </p:nvSpPr>
        <p:spPr>
          <a:xfrm>
            <a:off x="4956048" y="2633472"/>
            <a:ext cx="59436" cy="768096"/>
          </a:xfrm>
          <a:prstGeom prst="rect">
            <a:avLst/>
          </a:prstGeom>
          <a:solidFill>
            <a:srgbClr val="2A15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35"/>
          <p:cNvSpPr/>
          <p:nvPr/>
        </p:nvSpPr>
        <p:spPr>
          <a:xfrm>
            <a:off x="5084064" y="2807208"/>
            <a:ext cx="420624" cy="420624"/>
          </a:xfrm>
          <a:prstGeom prst="ellipse">
            <a:avLst/>
          </a:prstGeom>
          <a:solidFill>
            <a:srgbClr val="2A1520"/>
          </a:solidFill>
          <a:ln w="12700">
            <a:solidFill>
              <a:srgbClr val="2A15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8189" y="2891333"/>
            <a:ext cx="252374" cy="25237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5577840" y="27249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Design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5577840" y="30358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pattern for large systems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4956048" y="3557016"/>
            <a:ext cx="3977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39"/>
          <p:cNvSpPr/>
          <p:nvPr/>
        </p:nvSpPr>
        <p:spPr>
          <a:xfrm>
            <a:off x="4956048" y="3557016"/>
            <a:ext cx="59436" cy="768096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0"/>
          <p:cNvSpPr/>
          <p:nvPr/>
        </p:nvSpPr>
        <p:spPr>
          <a:xfrm>
            <a:off x="5084064" y="3730752"/>
            <a:ext cx="420624" cy="420624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8189" y="3814877"/>
            <a:ext cx="252374" cy="252374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5577840" y="36484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Testable</a:t>
            </a:r>
            <a:endParaRPr lang="en-US" sz="1200" dirty="0"/>
          </a:p>
        </p:txBody>
      </p:sp>
      <p:sp>
        <p:nvSpPr>
          <p:cNvPr id="54" name="Text 42"/>
          <p:cNvSpPr/>
          <p:nvPr/>
        </p:nvSpPr>
        <p:spPr>
          <a:xfrm>
            <a:off x="5577840" y="39593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fully isolated for xUnit tests with 61 Test Cases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System  ·  .NET 8 + Angular (v20+)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4160520" cy="404164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2A152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92608" y="8595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292608" y="1216152"/>
            <a:ext cx="3977640" cy="2743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11480" y="1389888"/>
            <a:ext cx="100584" cy="100584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85216" y="13624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 /  .NET 8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11480" y="1719072"/>
            <a:ext cx="100584" cy="100584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85216" y="16916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11480" y="2048256"/>
            <a:ext cx="100584" cy="100584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85216" y="20208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11480" y="2377440"/>
            <a:ext cx="100584" cy="100584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85216" y="23500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11480" y="2706624"/>
            <a:ext cx="100584" cy="100584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85216" y="26791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11480" y="3035808"/>
            <a:ext cx="100584" cy="100584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85216" y="30083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11480" y="3364992"/>
            <a:ext cx="100584" cy="100584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85216" y="33375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11480" y="3694176"/>
            <a:ext cx="100584" cy="100584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85216" y="36667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Testing (4 Projects)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782312" y="749808"/>
            <a:ext cx="4160520" cy="4041648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9" name="Text 26"/>
          <p:cNvSpPr/>
          <p:nvPr/>
        </p:nvSpPr>
        <p:spPr>
          <a:xfrm>
            <a:off x="4873752" y="8595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873752" y="1216152"/>
            <a:ext cx="3977640" cy="27432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4919472" y="1398617"/>
            <a:ext cx="100584" cy="83127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5093208" y="13624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(v18+) 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919472" y="1719072"/>
            <a:ext cx="100584" cy="100584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5093208" y="16916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919472" y="2048256"/>
            <a:ext cx="100584" cy="100584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5093208" y="20208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 &amp; State Management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4919472" y="2377440"/>
            <a:ext cx="100584" cy="100584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5093208" y="23500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4919472" y="2706624"/>
            <a:ext cx="100584" cy="100584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5093208" y="26791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4919472" y="3035808"/>
            <a:ext cx="100584" cy="100584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5093208" y="30083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Auth Guards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4919472" y="3364992"/>
            <a:ext cx="100584" cy="100584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5093208" y="33375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093208" y="36667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 — Core Business Entities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System  ··  .NET 8 + Angular (v20+)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56032" y="7680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Core Entities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01168" y="1060704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01168" y="1060704"/>
            <a:ext cx="59436" cy="475488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65760" y="117043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ApplicationUser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79776" y="1060704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779776" y="1060704"/>
            <a:ext cx="59436" cy="475488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944368" y="117043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PolicyRequest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01168" y="168249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201168" y="1682496"/>
            <a:ext cx="59436" cy="475488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65760" y="17922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PropertyCategory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79776" y="168249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2779776" y="1682496"/>
            <a:ext cx="59436" cy="475488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2944368" y="17922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PropertySubCategory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01168" y="2304288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01168" y="2304288"/>
            <a:ext cx="59436" cy="475488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65760" y="241401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PropertyPlans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79776" y="2304288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2779776" y="2304288"/>
            <a:ext cx="59436" cy="475488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2944368" y="241401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01168" y="292608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201168" y="2926080"/>
            <a:ext cx="59436" cy="475488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365760" y="3035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779776" y="292608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2779776" y="2926080"/>
            <a:ext cx="59436" cy="475488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2944368" y="3035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01168" y="354787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201168" y="3547872"/>
            <a:ext cx="59436" cy="475488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365760" y="3657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RefreshToken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779776" y="354787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2779776" y="3547872"/>
            <a:ext cx="59436" cy="475488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2944368" y="3657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BaseEntity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256032" y="42611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Enums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01168" y="4498848"/>
            <a:ext cx="1170432" cy="256032"/>
          </a:xfrm>
          <a:prstGeom prst="rect">
            <a:avLst/>
          </a:prstGeom>
          <a:solidFill>
            <a:srgbClr val="FDF5F7"/>
          </a:solidFill>
          <a:ln w="12700">
            <a:solidFill>
              <a:srgbClr val="E8DD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246888" y="44988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UserRole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1481328" y="4498848"/>
            <a:ext cx="1170432" cy="256032"/>
          </a:xfrm>
          <a:prstGeom prst="rect">
            <a:avLst/>
          </a:prstGeom>
          <a:solidFill>
            <a:srgbClr val="FDF5F7"/>
          </a:solidFill>
          <a:ln w="12700">
            <a:solidFill>
              <a:srgbClr val="E8DD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1527048" y="44988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PolicyRequestStatus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761488" y="4498848"/>
            <a:ext cx="1170432" cy="256032"/>
          </a:xfrm>
          <a:prstGeom prst="rect">
            <a:avLst/>
          </a:prstGeom>
          <a:solidFill>
            <a:srgbClr val="FDF5F7"/>
          </a:solidFill>
          <a:ln w="12700">
            <a:solidFill>
              <a:srgbClr val="E8DD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2807208" y="44988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ClaimStatus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4041648" y="4498848"/>
            <a:ext cx="1170432" cy="256032"/>
          </a:xfrm>
          <a:prstGeom prst="rect">
            <a:avLst/>
          </a:prstGeom>
          <a:solidFill>
            <a:srgbClr val="FDF5F7"/>
          </a:solidFill>
          <a:ln w="12700">
            <a:solidFill>
              <a:srgbClr val="E8DD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4087368" y="44988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PremiumFrequency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5449824" y="768096"/>
            <a:ext cx="34747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7"/>
          <p:cNvSpPr/>
          <p:nvPr/>
        </p:nvSpPr>
        <p:spPr>
          <a:xfrm>
            <a:off x="5449824" y="768096"/>
            <a:ext cx="59436" cy="1133856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8"/>
          <p:cNvSpPr/>
          <p:nvPr/>
        </p:nvSpPr>
        <p:spPr>
          <a:xfrm>
            <a:off x="5577840" y="859536"/>
            <a:ext cx="438912" cy="438912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622" y="947318"/>
            <a:ext cx="263347" cy="263347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6089904" y="841248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BaseEntity</a:t>
            </a:r>
            <a:endParaRPr lang="en-US" sz="1300" dirty="0"/>
          </a:p>
        </p:txBody>
      </p:sp>
      <p:sp>
        <p:nvSpPr>
          <p:cNvPr id="54" name="Text 50"/>
          <p:cNvSpPr/>
          <p:nvPr/>
        </p:nvSpPr>
        <p:spPr>
          <a:xfrm>
            <a:off x="6089904" y="1133856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timestamps &amp; soft delete for all entities</a:t>
            </a:r>
            <a:endParaRPr lang="en-US" sz="1050" dirty="0"/>
          </a:p>
        </p:txBody>
      </p:sp>
      <p:sp>
        <p:nvSpPr>
          <p:cNvPr id="55" name="Shape 51"/>
          <p:cNvSpPr/>
          <p:nvPr/>
        </p:nvSpPr>
        <p:spPr>
          <a:xfrm>
            <a:off x="5449824" y="2103120"/>
            <a:ext cx="34747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2"/>
          <p:cNvSpPr/>
          <p:nvPr/>
        </p:nvSpPr>
        <p:spPr>
          <a:xfrm>
            <a:off x="5449824" y="2103120"/>
            <a:ext cx="59436" cy="1133856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3"/>
          <p:cNvSpPr/>
          <p:nvPr/>
        </p:nvSpPr>
        <p:spPr>
          <a:xfrm>
            <a:off x="5577840" y="2194560"/>
            <a:ext cx="438912" cy="438912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5622" y="2282342"/>
            <a:ext cx="263347" cy="263347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6089904" y="217627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60" name="Text 55"/>
          <p:cNvSpPr/>
          <p:nvPr/>
        </p:nvSpPr>
        <p:spPr>
          <a:xfrm>
            <a:off x="6089904" y="2468880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Properly configured FK chains via EF Core</a:t>
            </a:r>
            <a:endParaRPr lang="en-US" sz="1050" dirty="0"/>
          </a:p>
        </p:txBody>
      </p:sp>
      <p:sp>
        <p:nvSpPr>
          <p:cNvPr id="61" name="Shape 56"/>
          <p:cNvSpPr/>
          <p:nvPr/>
        </p:nvSpPr>
        <p:spPr>
          <a:xfrm>
            <a:off x="5449824" y="3438144"/>
            <a:ext cx="34747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57"/>
          <p:cNvSpPr/>
          <p:nvPr/>
        </p:nvSpPr>
        <p:spPr>
          <a:xfrm>
            <a:off x="5449824" y="3438144"/>
            <a:ext cx="59436" cy="1133856"/>
          </a:xfrm>
          <a:prstGeom prst="rect">
            <a:avLst/>
          </a:prstGeom>
          <a:solidFill>
            <a:srgbClr val="2A15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58"/>
          <p:cNvSpPr/>
          <p:nvPr/>
        </p:nvSpPr>
        <p:spPr>
          <a:xfrm>
            <a:off x="5577840" y="3529584"/>
            <a:ext cx="438912" cy="438912"/>
          </a:xfrm>
          <a:prstGeom prst="ellipse">
            <a:avLst/>
          </a:prstGeom>
          <a:solidFill>
            <a:srgbClr val="2A1520"/>
          </a:solidFill>
          <a:ln w="12700">
            <a:solidFill>
              <a:srgbClr val="2A15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5622" y="3617366"/>
            <a:ext cx="263347" cy="263347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6089904" y="3511296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</a:t>
            </a:r>
            <a:endParaRPr lang="en-US" sz="1300" dirty="0"/>
          </a:p>
        </p:txBody>
      </p:sp>
      <p:sp>
        <p:nvSpPr>
          <p:cNvPr id="66" name="Text 60"/>
          <p:cNvSpPr/>
          <p:nvPr/>
        </p:nvSpPr>
        <p:spPr>
          <a:xfrm>
            <a:off x="6089904" y="3803904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Enum-driven status fields for predictable state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— Interfaces &amp; DTOs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System  ·  .NET 8 + Angular (v20+)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Shape 7"/>
          <p:cNvSpPr/>
          <p:nvPr/>
        </p:nvSpPr>
        <p:spPr>
          <a:xfrm>
            <a:off x="201168" y="749808"/>
            <a:ext cx="59436" cy="162763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84048" y="8595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0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1480" y="1261872"/>
            <a:ext cx="91440" cy="91440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76072" y="12252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IAuthService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11480" y="1627632"/>
            <a:ext cx="91440" cy="91440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76072" y="15910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ICategoryService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072384" y="749808"/>
            <a:ext cx="5870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Data Transfer Objects (DTOs)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072384" y="1060704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3072384" y="1060704"/>
            <a:ext cx="59436" cy="457200"/>
          </a:xfrm>
          <a:prstGeom prst="rect">
            <a:avLst/>
          </a:prstGeom>
          <a:solidFill>
            <a:srgbClr val="2A15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236976" y="1170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RegisterRequestDto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943600" y="1060704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5943600" y="1060704"/>
            <a:ext cx="59436" cy="457200"/>
          </a:xfrm>
          <a:prstGeom prst="rect">
            <a:avLst/>
          </a:prstGeom>
          <a:solidFill>
            <a:srgbClr val="2A15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108192" y="1170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LoginRequestDto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072384" y="164592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3072384" y="1645920"/>
            <a:ext cx="59436" cy="457200"/>
          </a:xfrm>
          <a:prstGeom prst="rect">
            <a:avLst/>
          </a:prstGeom>
          <a:solidFill>
            <a:srgbClr val="2A15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3236976" y="17556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AuthResponseDto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943600" y="164592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5943600" y="1645920"/>
            <a:ext cx="59436" cy="457200"/>
          </a:xfrm>
          <a:prstGeom prst="rect">
            <a:avLst/>
          </a:prstGeom>
          <a:solidFill>
            <a:srgbClr val="2A15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108192" y="17556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CreatePolicyRequestDto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072384" y="2231136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3072384" y="2231136"/>
            <a:ext cx="59436" cy="457200"/>
          </a:xfrm>
          <a:prstGeom prst="rect">
            <a:avLst/>
          </a:prstGeom>
          <a:solidFill>
            <a:srgbClr val="2A15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3236976" y="23408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CreateClaimDto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943600" y="2231136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5943600" y="2231136"/>
            <a:ext cx="59436" cy="457200"/>
          </a:xfrm>
          <a:prstGeom prst="rect">
            <a:avLst/>
          </a:prstGeom>
          <a:solidFill>
            <a:srgbClr val="2A15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108192" y="23408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VerifyClaimDto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072384" y="2816352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3072384" y="2816352"/>
            <a:ext cx="59436" cy="457200"/>
          </a:xfrm>
          <a:prstGeom prst="rect">
            <a:avLst/>
          </a:prstGeom>
          <a:solidFill>
            <a:srgbClr val="2A15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3236976" y="29260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CategoryResponseDto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943600" y="2816352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5943600" y="2816352"/>
            <a:ext cx="59436" cy="457200"/>
          </a:xfrm>
          <a:prstGeom prst="rect">
            <a:avLst/>
          </a:prstGeom>
          <a:solidFill>
            <a:srgbClr val="2A15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6108192" y="29260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PolicyRequestResponseDto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3072384" y="3401568"/>
            <a:ext cx="2651760" cy="457200"/>
          </a:xfrm>
          <a:prstGeom prst="rect">
            <a:avLst/>
          </a:prstGeom>
          <a:solidFill>
            <a:srgbClr val="FDF5F7"/>
          </a:solidFill>
          <a:ln w="12700">
            <a:solidFill>
              <a:srgbClr val="A000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3072384" y="3401568"/>
            <a:ext cx="59436" cy="457200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3236976" y="35112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 more DTOs...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201168" y="4517136"/>
            <a:ext cx="2542032" cy="292608"/>
          </a:xfrm>
          <a:prstGeom prst="rect">
            <a:avLst/>
          </a:prstGeom>
          <a:solidFill>
            <a:srgbClr val="FDF5F7"/>
          </a:solidFill>
          <a:ln w="12700">
            <a:solidFill>
              <a:srgbClr val="F4EE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274320" y="453542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Exposure:  DTOs hide sensitive entity fields from clients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2962656" y="4517136"/>
            <a:ext cx="2542032" cy="292608"/>
          </a:xfrm>
          <a:prstGeom prst="rect">
            <a:avLst/>
          </a:prstGeom>
          <a:solidFill>
            <a:srgbClr val="FDF5F7"/>
          </a:solidFill>
          <a:ln w="12700">
            <a:solidFill>
              <a:srgbClr val="F4EE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3035808" y="453542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Separation:  Entities never leave the domain layer boundary</a:t>
            </a:r>
            <a:endParaRPr lang="en-US" sz="950" dirty="0"/>
          </a:p>
        </p:txBody>
      </p:sp>
      <p:sp>
        <p:nvSpPr>
          <p:cNvPr id="50" name="Shape 39">
            <a:extLst>
              <a:ext uri="{FF2B5EF4-FFF2-40B4-BE49-F238E27FC236}">
                <a16:creationId xmlns:a16="http://schemas.microsoft.com/office/drawing/2014/main" id="{62FA4BBC-0EE2-1987-9CBC-5CA36965FC0E}"/>
              </a:ext>
            </a:extLst>
          </p:cNvPr>
          <p:cNvSpPr/>
          <p:nvPr/>
        </p:nvSpPr>
        <p:spPr>
          <a:xfrm>
            <a:off x="214884" y="2614481"/>
            <a:ext cx="59436" cy="457200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38">
            <a:extLst>
              <a:ext uri="{FF2B5EF4-FFF2-40B4-BE49-F238E27FC236}">
                <a16:creationId xmlns:a16="http://schemas.microsoft.com/office/drawing/2014/main" id="{6D01DC45-99A2-5C34-212A-F3DB17F67387}"/>
              </a:ext>
            </a:extLst>
          </p:cNvPr>
          <p:cNvSpPr/>
          <p:nvPr/>
        </p:nvSpPr>
        <p:spPr>
          <a:xfrm>
            <a:off x="269748" y="2624328"/>
            <a:ext cx="2651760" cy="457200"/>
          </a:xfrm>
          <a:prstGeom prst="rect">
            <a:avLst/>
          </a:prstGeom>
          <a:solidFill>
            <a:srgbClr val="FDF5F7"/>
          </a:solidFill>
          <a:ln w="12700">
            <a:solidFill>
              <a:srgbClr val="A000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3" name="Text 40">
            <a:extLst>
              <a:ext uri="{FF2B5EF4-FFF2-40B4-BE49-F238E27FC236}">
                <a16:creationId xmlns:a16="http://schemas.microsoft.com/office/drawing/2014/main" id="{89B4195B-D001-5548-52E2-898A149A95A9}"/>
              </a:ext>
            </a:extLst>
          </p:cNvPr>
          <p:cNvSpPr/>
          <p:nvPr/>
        </p:nvSpPr>
        <p:spPr>
          <a:xfrm>
            <a:off x="439967" y="2723857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 more Services...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 — Services &amp; Data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2779776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01168" y="749808"/>
            <a:ext cx="59436" cy="4041648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10896" y="841248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" y="921715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6384" y="87782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ApplicationDbContext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10896" y="1335024"/>
            <a:ext cx="2560320" cy="2743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84048" y="1481328"/>
            <a:ext cx="91440" cy="91440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548640" y="14447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entity relationships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84048" y="1956816"/>
            <a:ext cx="91440" cy="91440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548640" y="19202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email index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84048" y="2432304"/>
            <a:ext cx="91440" cy="91440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548640" y="23957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(Users, Plans)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84048" y="2907792"/>
            <a:ext cx="91440" cy="91440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548640" y="28712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configurations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84048" y="3383280"/>
            <a:ext cx="91440" cy="91440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548640" y="334670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Eager Loading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182112" y="749808"/>
            <a:ext cx="2779776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3182112" y="749808"/>
            <a:ext cx="59436" cy="4041648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3291840" y="841248"/>
            <a:ext cx="402336" cy="402336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307" y="921715"/>
            <a:ext cx="241402" cy="24140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767328" y="87782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3291840" y="1335024"/>
            <a:ext cx="2560320" cy="27432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3364992" y="1481328"/>
            <a:ext cx="91440" cy="91440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/>
          <p:nvPr/>
        </p:nvSpPr>
        <p:spPr>
          <a:xfrm>
            <a:off x="3529584" y="14447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— Register &amp; Login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3364992" y="1956816"/>
            <a:ext cx="91440" cy="91440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9"/>
          <p:cNvSpPr/>
          <p:nvPr/>
        </p:nvSpPr>
        <p:spPr>
          <a:xfrm>
            <a:off x="3529584" y="19202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CategoryService — Plans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3364992" y="2432304"/>
            <a:ext cx="91440" cy="91440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/>
          <p:nvPr/>
        </p:nvSpPr>
        <p:spPr>
          <a:xfrm>
            <a:off x="3529584" y="23957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JwtTokenGenerator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3364992" y="2907792"/>
            <a:ext cx="91440" cy="91440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3529584" y="28712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Reward Logic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3364992" y="3383280"/>
            <a:ext cx="91440" cy="91440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5"/>
          <p:cNvSpPr/>
          <p:nvPr/>
        </p:nvSpPr>
        <p:spPr>
          <a:xfrm>
            <a:off x="3529584" y="334670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6163056" y="749808"/>
            <a:ext cx="2779776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7"/>
          <p:cNvSpPr/>
          <p:nvPr/>
        </p:nvSpPr>
        <p:spPr>
          <a:xfrm>
            <a:off x="6163056" y="749808"/>
            <a:ext cx="59436" cy="404164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38"/>
          <p:cNvSpPr/>
          <p:nvPr/>
        </p:nvSpPr>
        <p:spPr>
          <a:xfrm>
            <a:off x="6272784" y="841248"/>
            <a:ext cx="402336" cy="402336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251" y="921715"/>
            <a:ext cx="241402" cy="241402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6748272" y="87782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200" dirty="0"/>
          </a:p>
        </p:txBody>
      </p:sp>
      <p:sp>
        <p:nvSpPr>
          <p:cNvPr id="46" name="Shape 40"/>
          <p:cNvSpPr/>
          <p:nvPr/>
        </p:nvSpPr>
        <p:spPr>
          <a:xfrm>
            <a:off x="6272784" y="1335024"/>
            <a:ext cx="2560320" cy="27432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1"/>
          <p:cNvSpPr/>
          <p:nvPr/>
        </p:nvSpPr>
        <p:spPr>
          <a:xfrm>
            <a:off x="6345936" y="1481328"/>
            <a:ext cx="91440" cy="9144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2"/>
          <p:cNvSpPr/>
          <p:nvPr/>
        </p:nvSpPr>
        <p:spPr>
          <a:xfrm>
            <a:off x="6510528" y="14447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creation &amp; refresh tokens</a:t>
            </a:r>
            <a:endParaRPr lang="en-US" sz="1050" dirty="0"/>
          </a:p>
        </p:txBody>
      </p:sp>
      <p:sp>
        <p:nvSpPr>
          <p:cNvPr id="49" name="Shape 43"/>
          <p:cNvSpPr/>
          <p:nvPr/>
        </p:nvSpPr>
        <p:spPr>
          <a:xfrm>
            <a:off x="6345936" y="1956816"/>
            <a:ext cx="91440" cy="9144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4"/>
          <p:cNvSpPr/>
          <p:nvPr/>
        </p:nvSpPr>
        <p:spPr>
          <a:xfrm>
            <a:off x="6510528" y="19202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migrations</a:t>
            </a:r>
            <a:endParaRPr lang="en-US" sz="1050" dirty="0"/>
          </a:p>
        </p:txBody>
      </p:sp>
      <p:sp>
        <p:nvSpPr>
          <p:cNvPr id="51" name="Shape 45"/>
          <p:cNvSpPr/>
          <p:nvPr/>
        </p:nvSpPr>
        <p:spPr>
          <a:xfrm>
            <a:off x="6345936" y="2432304"/>
            <a:ext cx="91440" cy="9144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6"/>
          <p:cNvSpPr/>
          <p:nvPr/>
        </p:nvSpPr>
        <p:spPr>
          <a:xfrm>
            <a:off x="6510528" y="23957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demo data</a:t>
            </a:r>
            <a:endParaRPr lang="en-US" sz="1050" dirty="0"/>
          </a:p>
        </p:txBody>
      </p:sp>
      <p:sp>
        <p:nvSpPr>
          <p:cNvPr id="53" name="Shape 47"/>
          <p:cNvSpPr/>
          <p:nvPr/>
        </p:nvSpPr>
        <p:spPr>
          <a:xfrm>
            <a:off x="6345936" y="2907792"/>
            <a:ext cx="91440" cy="9144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48"/>
          <p:cNvSpPr/>
          <p:nvPr/>
        </p:nvSpPr>
        <p:spPr>
          <a:xfrm>
            <a:off x="6510528" y="28712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uniqueness enforce</a:t>
            </a:r>
            <a:endParaRPr lang="en-US" sz="1050" dirty="0"/>
          </a:p>
        </p:txBody>
      </p:sp>
      <p:sp>
        <p:nvSpPr>
          <p:cNvPr id="55" name="Shape 49"/>
          <p:cNvSpPr/>
          <p:nvPr/>
        </p:nvSpPr>
        <p:spPr>
          <a:xfrm>
            <a:off x="6345936" y="3383280"/>
            <a:ext cx="91440" cy="9144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0"/>
          <p:cNvSpPr/>
          <p:nvPr/>
        </p:nvSpPr>
        <p:spPr>
          <a:xfrm>
            <a:off x="6510528" y="334670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commission calc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— 8 Controllers · 25+ Endpoints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4261104" cy="65836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A000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292608" y="87782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694944" y="896112"/>
            <a:ext cx="27432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795528" y="8229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795528" y="10972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· Login · Refresh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681728" y="749808"/>
            <a:ext cx="4261104" cy="65836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2A152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4773168" y="87782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175504" y="896112"/>
            <a:ext cx="27432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5276088" y="8229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AdminController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5276088" y="10972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· Approve · Statistics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01168" y="1627632"/>
            <a:ext cx="4261104" cy="658368"/>
          </a:xfrm>
          <a:prstGeom prst="rect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292608" y="17556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94944" y="1773936"/>
            <a:ext cx="27432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795528" y="17007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PolicyRequestController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795528" y="197510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· Track · Manage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681728" y="1627632"/>
            <a:ext cx="4261104" cy="65836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2A152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4773168" y="17556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175504" y="1773936"/>
            <a:ext cx="27432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5276088" y="17007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ClaimsController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5276088" y="197510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· Verify · Settle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9" name="Shape 26"/>
          <p:cNvSpPr/>
          <p:nvPr/>
        </p:nvSpPr>
        <p:spPr>
          <a:xfrm>
            <a:off x="201168" y="2505456"/>
            <a:ext cx="4261104" cy="658368"/>
          </a:xfrm>
          <a:prstGeom prst="rect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30" name="Text 27"/>
          <p:cNvSpPr/>
          <p:nvPr/>
        </p:nvSpPr>
        <p:spPr>
          <a:xfrm>
            <a:off x="292608" y="26334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94944" y="2651760"/>
            <a:ext cx="27432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32" name="Text 29"/>
          <p:cNvSpPr/>
          <p:nvPr/>
        </p:nvSpPr>
        <p:spPr>
          <a:xfrm>
            <a:off x="795528" y="25786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CategoryController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3" name="Text 30"/>
          <p:cNvSpPr/>
          <p:nvPr/>
        </p:nvSpPr>
        <p:spPr>
          <a:xfrm>
            <a:off x="795528" y="28529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&amp; Subcategories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4" name="Shape 31"/>
          <p:cNvSpPr/>
          <p:nvPr/>
        </p:nvSpPr>
        <p:spPr>
          <a:xfrm>
            <a:off x="4681728" y="2505456"/>
            <a:ext cx="4261104" cy="65836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2A152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35" name="Text 32"/>
          <p:cNvSpPr/>
          <p:nvPr/>
        </p:nvSpPr>
        <p:spPr>
          <a:xfrm>
            <a:off x="4773168" y="26334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36" name="Shape 33"/>
          <p:cNvSpPr/>
          <p:nvPr/>
        </p:nvSpPr>
        <p:spPr>
          <a:xfrm>
            <a:off x="5175504" y="2651760"/>
            <a:ext cx="27432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37" name="Text 34"/>
          <p:cNvSpPr/>
          <p:nvPr/>
        </p:nvSpPr>
        <p:spPr>
          <a:xfrm>
            <a:off x="5276088" y="25786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PropertyPlansController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8" name="Text 35"/>
          <p:cNvSpPr/>
          <p:nvPr/>
        </p:nvSpPr>
        <p:spPr>
          <a:xfrm>
            <a:off x="5276088" y="28529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· Create · Update Plans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9" name="Shape 36"/>
          <p:cNvSpPr/>
          <p:nvPr/>
        </p:nvSpPr>
        <p:spPr>
          <a:xfrm>
            <a:off x="201168" y="3383280"/>
            <a:ext cx="4261104" cy="658368"/>
          </a:xfrm>
          <a:prstGeom prst="rect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0" name="Text 37"/>
          <p:cNvSpPr/>
          <p:nvPr/>
        </p:nvSpPr>
        <p:spPr>
          <a:xfrm>
            <a:off x="292608" y="35112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41" name="Shape 38"/>
          <p:cNvSpPr/>
          <p:nvPr/>
        </p:nvSpPr>
        <p:spPr>
          <a:xfrm>
            <a:off x="694944" y="3529584"/>
            <a:ext cx="27432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2" name="Text 39"/>
          <p:cNvSpPr/>
          <p:nvPr/>
        </p:nvSpPr>
        <p:spPr>
          <a:xfrm>
            <a:off x="795528" y="34564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InvoicesController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43" name="Text 40"/>
          <p:cNvSpPr/>
          <p:nvPr/>
        </p:nvSpPr>
        <p:spPr>
          <a:xfrm>
            <a:off x="795528" y="373075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· Download Invoices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4" name="Shape 41"/>
          <p:cNvSpPr/>
          <p:nvPr/>
        </p:nvSpPr>
        <p:spPr>
          <a:xfrm>
            <a:off x="4681728" y="3383280"/>
            <a:ext cx="4261104" cy="65836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2A152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5" name="Text 42"/>
          <p:cNvSpPr/>
          <p:nvPr/>
        </p:nvSpPr>
        <p:spPr>
          <a:xfrm>
            <a:off x="4773168" y="35112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46" name="Shape 43"/>
          <p:cNvSpPr/>
          <p:nvPr/>
        </p:nvSpPr>
        <p:spPr>
          <a:xfrm>
            <a:off x="5175504" y="3529584"/>
            <a:ext cx="27432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7" name="Text 44"/>
          <p:cNvSpPr/>
          <p:nvPr/>
        </p:nvSpPr>
        <p:spPr>
          <a:xfrm>
            <a:off x="5276088" y="34564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NotificationsController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48" name="Text 45"/>
          <p:cNvSpPr/>
          <p:nvPr/>
        </p:nvSpPr>
        <p:spPr>
          <a:xfrm>
            <a:off x="5276088" y="373075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· Read · Manage Alerts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9" name="Shape 46"/>
          <p:cNvSpPr/>
          <p:nvPr/>
        </p:nvSpPr>
        <p:spPr>
          <a:xfrm>
            <a:off x="201168" y="4553712"/>
            <a:ext cx="2779776" cy="274320"/>
          </a:xfrm>
          <a:prstGeom prst="rect">
            <a:avLst/>
          </a:prstGeom>
          <a:solidFill>
            <a:srgbClr val="FDF5F7"/>
          </a:solidFill>
          <a:ln w="12700">
            <a:solidFill>
              <a:srgbClr val="F4EEF0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50" name="Text 47"/>
          <p:cNvSpPr/>
          <p:nvPr/>
        </p:nvSpPr>
        <p:spPr>
          <a:xfrm>
            <a:off x="274320" y="456285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 ·  REST Endpoints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1" name="Shape 48"/>
          <p:cNvSpPr/>
          <p:nvPr/>
        </p:nvSpPr>
        <p:spPr>
          <a:xfrm>
            <a:off x="3182112" y="4553712"/>
            <a:ext cx="2779776" cy="274320"/>
          </a:xfrm>
          <a:prstGeom prst="rect">
            <a:avLst/>
          </a:prstGeom>
          <a:solidFill>
            <a:srgbClr val="FDF5F7"/>
          </a:solidFill>
          <a:ln w="12700">
            <a:solidFill>
              <a:srgbClr val="F4EEF0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52" name="Text 49"/>
          <p:cNvSpPr/>
          <p:nvPr/>
        </p:nvSpPr>
        <p:spPr>
          <a:xfrm>
            <a:off x="3255264" y="456285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·  Role Levels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3" name="Shape 50"/>
          <p:cNvSpPr/>
          <p:nvPr/>
        </p:nvSpPr>
        <p:spPr>
          <a:xfrm>
            <a:off x="6163056" y="4553712"/>
            <a:ext cx="2779776" cy="274320"/>
          </a:xfrm>
          <a:prstGeom prst="rect">
            <a:avLst/>
          </a:prstGeom>
          <a:solidFill>
            <a:srgbClr val="FDF5F7"/>
          </a:solidFill>
          <a:ln w="12700">
            <a:solidFill>
              <a:srgbClr val="F4EEF0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54" name="Text 51"/>
          <p:cNvSpPr/>
          <p:nvPr/>
        </p:nvSpPr>
        <p:spPr>
          <a:xfrm>
            <a:off x="6236208" y="456285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 ·  Auth Method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Policy Workflow — 10 Steps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493776" cy="603504"/>
          </a:xfrm>
          <a:prstGeom prst="rect">
            <a:avLst/>
          </a:prstGeom>
          <a:solidFill>
            <a:srgbClr val="A0002A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01168" y="87782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94944" y="749808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86384" y="8046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86384" y="10241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Policy Request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81728" y="749808"/>
            <a:ext cx="493776" cy="603504"/>
          </a:xfrm>
          <a:prstGeom prst="rect">
            <a:avLst/>
          </a:prstGeom>
          <a:solidFill>
            <a:schemeClr val="accent2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681728" y="87782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175504" y="749808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266944" y="8046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266944" y="10241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Agent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01168" y="1536192"/>
            <a:ext cx="493776" cy="603504"/>
          </a:xfrm>
          <a:prstGeom prst="rect">
            <a:avLst/>
          </a:prstGeom>
          <a:solidFill>
            <a:srgbClr val="A0002A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01168" y="166420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94944" y="1536192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786384" y="15910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86384" y="1810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Property Details Form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81728" y="1536192"/>
            <a:ext cx="493776" cy="603504"/>
          </a:xfrm>
          <a:prstGeom prst="rect">
            <a:avLst/>
          </a:prstGeom>
          <a:solidFill>
            <a:schemeClr val="accent2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681728" y="166420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175504" y="1536192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266944" y="15910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266944" y="1810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Property Details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01168" y="2322576"/>
            <a:ext cx="493776" cy="603504"/>
          </a:xfrm>
          <a:prstGeom prst="rect">
            <a:avLst/>
          </a:prstGeom>
          <a:solidFill>
            <a:srgbClr val="A0002A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201168" y="245059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94944" y="2322576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786384" y="2377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86384" y="25968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Risk &amp; Premium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681728" y="2322576"/>
            <a:ext cx="493776" cy="603504"/>
          </a:xfrm>
          <a:prstGeom prst="rect">
            <a:avLst/>
          </a:prstGeom>
          <a:solidFill>
            <a:schemeClr val="accent2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4681728" y="245059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5175504" y="2322576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5266944" y="2377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266944" y="25968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Purchase Policy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201168" y="3108960"/>
            <a:ext cx="493776" cy="603504"/>
          </a:xfrm>
          <a:prstGeom prst="rect">
            <a:avLst/>
          </a:prstGeom>
          <a:solidFill>
            <a:srgbClr val="A0002A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201168" y="32369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694944" y="3108960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786384" y="3163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786384" y="33832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681728" y="3108960"/>
            <a:ext cx="493776" cy="603504"/>
          </a:xfrm>
          <a:prstGeom prst="rect">
            <a:avLst/>
          </a:prstGeom>
          <a:solidFill>
            <a:schemeClr val="accent2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4681728" y="32369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5175504" y="3108960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5266944" y="3163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5266944" y="33832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Claim (if needed)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201168" y="3895344"/>
            <a:ext cx="493776" cy="603504"/>
          </a:xfrm>
          <a:prstGeom prst="rect">
            <a:avLst/>
          </a:prstGeom>
          <a:solidFill>
            <a:srgbClr val="A0002A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201168" y="40233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694944" y="3895344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786384" y="3950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Officer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786384" y="41696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Approve Claim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4681728" y="3895344"/>
            <a:ext cx="493776" cy="603504"/>
          </a:xfrm>
          <a:prstGeom prst="rect">
            <a:avLst/>
          </a:prstGeom>
          <a:solidFill>
            <a:srgbClr val="C0003A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4681728" y="40233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5175504" y="3895344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5266944" y="3950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266944" y="41696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Generated + Reward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Calculation &amp; Premium Logic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42062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01168" y="749808"/>
            <a:ext cx="59436" cy="4041648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84048" y="87782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Rules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84048" y="1188720"/>
            <a:ext cx="3858768" cy="27432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47472" y="1316736"/>
            <a:ext cx="3931920" cy="914400"/>
          </a:xfrm>
          <a:prstGeom prst="rect">
            <a:avLst/>
          </a:prstGeom>
          <a:solidFill>
            <a:srgbClr val="FDF5F7"/>
          </a:solidFill>
          <a:ln w="12700">
            <a:solidFill>
              <a:srgbClr val="C0003A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38912" y="1408176"/>
            <a:ext cx="402336" cy="402336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" y="1488643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" y="1426464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Age &gt; 10 years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914400" y="1691640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Risk Points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47472" y="2487168"/>
            <a:ext cx="3931920" cy="914400"/>
          </a:xfrm>
          <a:prstGeom prst="rect">
            <a:avLst/>
          </a:prstGeom>
          <a:solidFill>
            <a:srgbClr val="FDF5F7"/>
          </a:solidFill>
          <a:ln w="12700">
            <a:solidFill>
              <a:srgbClr val="C0003A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438912" y="2578608"/>
            <a:ext cx="402336" cy="402336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" y="2659075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" y="2596896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Value &gt; ₹2,50,000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914400" y="286207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 Risk Points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310896" y="3675888"/>
            <a:ext cx="4114800" cy="822960"/>
          </a:xfrm>
          <a:prstGeom prst="rect">
            <a:avLst/>
          </a:prstGeom>
          <a:solidFill>
            <a:schemeClr val="bg1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457200" y="374904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Formula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25" name="Text 20"/>
          <p:cNvSpPr/>
          <p:nvPr/>
        </p:nvSpPr>
        <p:spPr>
          <a:xfrm>
            <a:off x="457200" y="398678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0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FinalPremium = BasePremium × RiskScore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663440" y="749808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4663440" y="749808"/>
            <a:ext cx="59436" cy="822960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4864608" y="85039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Installments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4864608" y="11155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Monthly/quarterly auto-calc per PremiumFrequency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663440" y="1746504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4663440" y="1746504"/>
            <a:ext cx="59436" cy="822960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/>
          <p:nvPr/>
        </p:nvSpPr>
        <p:spPr>
          <a:xfrm>
            <a:off x="4864608" y="184708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Commission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4864608" y="211226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= BasePremium × (Agent Commission % / 100)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4663440" y="274320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0"/>
          <p:cNvSpPr/>
          <p:nvPr/>
        </p:nvSpPr>
        <p:spPr>
          <a:xfrm>
            <a:off x="4663440" y="2743200"/>
            <a:ext cx="59436" cy="82296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/>
          <p:nvPr/>
        </p:nvSpPr>
        <p:spPr>
          <a:xfrm>
            <a:off x="4864608" y="284378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Adjustment</a:t>
            </a:r>
            <a:endParaRPr lang="en-US" sz="1250" dirty="0"/>
          </a:p>
        </p:txBody>
      </p:sp>
      <p:sp>
        <p:nvSpPr>
          <p:cNvPr id="37" name="Text 32"/>
          <p:cNvSpPr/>
          <p:nvPr/>
        </p:nvSpPr>
        <p:spPr>
          <a:xfrm>
            <a:off x="4864608" y="31089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updates automatically with risk score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4663440" y="3739896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4"/>
          <p:cNvSpPr/>
          <p:nvPr/>
        </p:nvSpPr>
        <p:spPr>
          <a:xfrm>
            <a:off x="4663440" y="3739896"/>
            <a:ext cx="59436" cy="822960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5"/>
          <p:cNvSpPr/>
          <p:nvPr/>
        </p:nvSpPr>
        <p:spPr>
          <a:xfrm>
            <a:off x="4864608" y="384048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</a:t>
            </a:r>
            <a:endParaRPr lang="en-US" sz="1250" dirty="0"/>
          </a:p>
        </p:txBody>
      </p:sp>
      <p:sp>
        <p:nvSpPr>
          <p:cNvPr id="41" name="Text 36"/>
          <p:cNvSpPr/>
          <p:nvPr/>
        </p:nvSpPr>
        <p:spPr>
          <a:xfrm>
            <a:off x="4864608" y="41056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sees full breakdown before confirming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0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" y="162763"/>
            <a:ext cx="241402" cy="241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Implementation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01168" y="768096"/>
            <a:ext cx="4261104" cy="1115568"/>
          </a:xfrm>
          <a:prstGeom prst="rect">
            <a:avLst/>
          </a:prstGeom>
          <a:solidFill>
            <a:schemeClr val="bg1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29184" y="1106424"/>
            <a:ext cx="438912" cy="438912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66" y="11942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9536" y="9235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Auth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859536" y="126187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 auth for all API requests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681728" y="768096"/>
            <a:ext cx="4261104" cy="1115568"/>
          </a:xfrm>
          <a:prstGeom prst="rect">
            <a:avLst/>
          </a:prstGeom>
          <a:solidFill>
            <a:schemeClr val="bg1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809744" y="1106424"/>
            <a:ext cx="438912" cy="438912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526" y="119420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0096" y="9235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5340096" y="126187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Agent · Customer · Claims Officer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201168" y="2139696"/>
            <a:ext cx="4261104" cy="1115568"/>
          </a:xfrm>
          <a:prstGeom prst="rect">
            <a:avLst/>
          </a:prstGeom>
          <a:solidFill>
            <a:schemeClr val="bg1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329184" y="2478024"/>
            <a:ext cx="438912" cy="438912"/>
          </a:xfrm>
          <a:prstGeom prst="ellipse">
            <a:avLst/>
          </a:prstGeom>
          <a:solidFill>
            <a:srgbClr val="2A1520"/>
          </a:solidFill>
          <a:ln w="12700">
            <a:solidFill>
              <a:srgbClr val="2A15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66" y="256580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9536" y="22951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23" name="Text 17"/>
          <p:cNvSpPr/>
          <p:nvPr/>
        </p:nvSpPr>
        <p:spPr>
          <a:xfrm>
            <a:off x="859536" y="263347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salted + hashed — never plaintext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681728" y="2139696"/>
            <a:ext cx="4261104" cy="1115568"/>
          </a:xfrm>
          <a:prstGeom prst="rect">
            <a:avLst/>
          </a:prstGeom>
          <a:solidFill>
            <a:schemeClr val="bg1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809744" y="2478024"/>
            <a:ext cx="438912" cy="438912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7526" y="256580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0096" y="22951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Auth Guard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28" name="Text 21"/>
          <p:cNvSpPr/>
          <p:nvPr/>
        </p:nvSpPr>
        <p:spPr>
          <a:xfrm>
            <a:off x="5340096" y="263347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route protection by user role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29" name="Shape 22"/>
          <p:cNvSpPr/>
          <p:nvPr/>
        </p:nvSpPr>
        <p:spPr>
          <a:xfrm>
            <a:off x="201168" y="3511296"/>
            <a:ext cx="4261104" cy="1115568"/>
          </a:xfrm>
          <a:prstGeom prst="rect">
            <a:avLst/>
          </a:prstGeom>
          <a:solidFill>
            <a:schemeClr val="bg1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329184" y="3849624"/>
            <a:ext cx="438912" cy="438912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966" y="393740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9536" y="36667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Interceptor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33" name="Text 25"/>
          <p:cNvSpPr/>
          <p:nvPr/>
        </p:nvSpPr>
        <p:spPr>
          <a:xfrm>
            <a:off x="859536" y="400507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JWT injection into every outbound request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34" name="Shape 26"/>
          <p:cNvSpPr/>
          <p:nvPr/>
        </p:nvSpPr>
        <p:spPr>
          <a:xfrm>
            <a:off x="4681728" y="3511296"/>
            <a:ext cx="4261104" cy="1115568"/>
          </a:xfrm>
          <a:prstGeom prst="rect">
            <a:avLst/>
          </a:prstGeom>
          <a:solidFill>
            <a:schemeClr val="bg1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4809744" y="3849624"/>
            <a:ext cx="438912" cy="438912"/>
          </a:xfrm>
          <a:prstGeom prst="ellipse">
            <a:avLst/>
          </a:prstGeom>
          <a:solidFill>
            <a:srgbClr val="2A1520"/>
          </a:solidFill>
          <a:ln w="12700">
            <a:solidFill>
              <a:srgbClr val="2A15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7526" y="3937406"/>
            <a:ext cx="263347" cy="26334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340096" y="36667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Restriction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38" name="Text 29"/>
          <p:cNvSpPr/>
          <p:nvPr/>
        </p:nvSpPr>
        <p:spPr>
          <a:xfrm>
            <a:off x="5340096" y="400507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whitelisted origins reach the API</a:t>
            </a:r>
            <a:endParaRPr lang="en-US" sz="105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Frontend Structure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3200400" cy="4041648"/>
          </a:xfrm>
          <a:prstGeom prst="rect">
            <a:avLst/>
          </a:prstGeom>
          <a:noFill/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84048" y="8778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0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84048" y="1188720"/>
            <a:ext cx="2834640" cy="2743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84048" y="12984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0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core/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0080" y="154533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auth.service.ts</a:t>
            </a:r>
            <a:endParaRPr lang="en-US" sz="950" dirty="0">
              <a:solidFill>
                <a:schemeClr val="accent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0080" y="179222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interceptors/</a:t>
            </a:r>
            <a:endParaRPr lang="en-US" sz="950" dirty="0">
              <a:solidFill>
                <a:schemeClr val="accent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384048" y="203911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0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features/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0080" y="228600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admin/ · agent/ · customer/</a:t>
            </a:r>
            <a:endParaRPr lang="en-US" sz="950" dirty="0">
              <a:solidFill>
                <a:schemeClr val="accent1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0080" y="253288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claims-officer/</a:t>
            </a:r>
            <a:endParaRPr lang="en-US" sz="950" dirty="0">
              <a:solidFill>
                <a:schemeClr val="accent1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384048" y="27797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0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shared/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0080" y="302666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 · models/</a:t>
            </a:r>
            <a:endParaRPr lang="en-US" sz="950" dirty="0">
              <a:solidFill>
                <a:schemeClr val="accent1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384048" y="32735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0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environments/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40080" y="35204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0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theme.service.ts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40080" y="376732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0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notifications.service.ts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547872" y="7498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547872" y="1060704"/>
            <a:ext cx="2578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3547872" y="1060704"/>
            <a:ext cx="59436" cy="475488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3730752" y="11704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auth.service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291072" y="1060704"/>
            <a:ext cx="2578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6291072" y="1060704"/>
            <a:ext cx="59436" cy="475488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473952" y="11704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policy-requests.service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547872" y="1682496"/>
            <a:ext cx="2578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3547872" y="1682496"/>
            <a:ext cx="59436" cy="475488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3730752" y="17922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claims.service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291072" y="1682496"/>
            <a:ext cx="2578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6291072" y="1682496"/>
            <a:ext cx="59436" cy="475488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473952" y="17922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admin.service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547872" y="2304288"/>
            <a:ext cx="2578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3547872" y="2304288"/>
            <a:ext cx="59436" cy="475488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30752" y="24140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invoices.service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291072" y="2304288"/>
            <a:ext cx="2578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6291072" y="2304288"/>
            <a:ext cx="59436" cy="475488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6473952" y="24140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notifications.service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3547872" y="2926080"/>
            <a:ext cx="2578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3547872" y="2926080"/>
            <a:ext cx="59436" cy="475488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3730752" y="3035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theme.service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291072" y="2926080"/>
            <a:ext cx="2578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6291072" y="2926080"/>
            <a:ext cx="59436" cy="475488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6473952" y="3035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rewards.service</a:t>
            </a:r>
            <a:endParaRPr lang="en-US" sz="1050" dirty="0"/>
          </a:p>
        </p:txBody>
      </p:sp>
      <p:pic>
        <p:nvPicPr>
          <p:cNvPr id="4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4096512"/>
            <a:ext cx="201168" cy="201168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3822192" y="407822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Lazy-loaded feature modules</a:t>
            </a:r>
            <a:endParaRPr lang="en-US" sz="1150" dirty="0"/>
          </a:p>
        </p:txBody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4480560"/>
            <a:ext cx="201168" cy="201168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3822192" y="446227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per user</a:t>
            </a:r>
            <a:endParaRPr lang="en-US" sz="1150" dirty="0"/>
          </a:p>
        </p:txBody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4864608"/>
            <a:ext cx="201168" cy="201168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3822192" y="484632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theme engine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— 4 User Roles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64592" y="731520"/>
            <a:ext cx="2048256" cy="406908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2A152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960120" y="859536"/>
            <a:ext cx="457200" cy="45720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95097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" y="138988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365760" y="1737360"/>
            <a:ext cx="1645920" cy="2743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292608" y="188366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agents to requests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92608" y="24505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policies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92608" y="301752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system statistics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92608" y="3584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staff &amp; plans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395728" y="731520"/>
            <a:ext cx="2048256" cy="4069080"/>
          </a:xfrm>
          <a:prstGeom prst="rect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3191256" y="859536"/>
            <a:ext cx="457200" cy="45720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96" y="950976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395728" y="138988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2596896" y="1737360"/>
            <a:ext cx="1645920" cy="2743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2523744" y="188366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policies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2523744" y="24505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property forms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2523744" y="301752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risk &amp; premium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2523744" y="3584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earnings &amp; commission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626864" y="731520"/>
            <a:ext cx="2048256" cy="406908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5422392" y="859536"/>
            <a:ext cx="457200" cy="45720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832" y="950976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626864" y="138988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828032" y="1737360"/>
            <a:ext cx="1645920" cy="2743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/>
          <p:nvPr/>
        </p:nvSpPr>
        <p:spPr>
          <a:xfrm>
            <a:off x="4754880" y="188366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insurance plans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754880" y="24505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policy requests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754880" y="301752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policy status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4754880" y="3584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claims · Redeem rewards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6858000" y="731520"/>
            <a:ext cx="2048256" cy="4069080"/>
          </a:xfrm>
          <a:prstGeom prst="rect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1"/>
          <p:cNvSpPr/>
          <p:nvPr/>
        </p:nvSpPr>
        <p:spPr>
          <a:xfrm>
            <a:off x="7653528" y="859536"/>
            <a:ext cx="457200" cy="457200"/>
          </a:xfrm>
          <a:prstGeom prst="ellipse">
            <a:avLst/>
          </a:prstGeom>
          <a:solidFill>
            <a:srgbClr val="2A1520"/>
          </a:solidFill>
          <a:ln w="12700">
            <a:solidFill>
              <a:srgbClr val="2A15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950976"/>
            <a:ext cx="274320" cy="27432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858000" y="138988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Officer</a:t>
            </a:r>
            <a:endParaRPr lang="en-US" sz="1350" dirty="0"/>
          </a:p>
        </p:txBody>
      </p:sp>
      <p:sp>
        <p:nvSpPr>
          <p:cNvPr id="40" name="Shape 33"/>
          <p:cNvSpPr/>
          <p:nvPr/>
        </p:nvSpPr>
        <p:spPr>
          <a:xfrm>
            <a:off x="7059168" y="1737360"/>
            <a:ext cx="1645920" cy="27432"/>
          </a:xfrm>
          <a:prstGeom prst="rect">
            <a:avLst/>
          </a:prstGeom>
          <a:solidFill>
            <a:srgbClr val="2A15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4"/>
          <p:cNvSpPr/>
          <p:nvPr/>
        </p:nvSpPr>
        <p:spPr>
          <a:xfrm>
            <a:off x="6986016" y="188366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pending claims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2" name="Text 35"/>
          <p:cNvSpPr/>
          <p:nvPr/>
        </p:nvSpPr>
        <p:spPr>
          <a:xfrm>
            <a:off x="6986016" y="24505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claim documents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3" name="Text 36"/>
          <p:cNvSpPr/>
          <p:nvPr/>
        </p:nvSpPr>
        <p:spPr>
          <a:xfrm>
            <a:off x="6986016" y="301752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claims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4" name="Text 37"/>
          <p:cNvSpPr/>
          <p:nvPr/>
        </p:nvSpPr>
        <p:spPr>
          <a:xfrm>
            <a:off x="6986016" y="3584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invoice generation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SQL Server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56032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Core Tables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01168" y="1060704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01168" y="1060704"/>
            <a:ext cx="59436" cy="768096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47472" y="1243584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" y="1324051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1248" y="126187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182112" y="1060704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3182112" y="1060704"/>
            <a:ext cx="59436" cy="768096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3328416" y="1243584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83" y="1324051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22192" y="126187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RefreshTokens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63056" y="1060704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163056" y="1060704"/>
            <a:ext cx="59436" cy="768096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309360" y="1243584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827" y="1324051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03136" y="126187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PropertyCategories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201168" y="2048256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201168" y="2048256"/>
            <a:ext cx="59436" cy="768096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347472" y="2231136"/>
            <a:ext cx="402336" cy="402336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" y="2311603"/>
            <a:ext cx="241402" cy="24140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41248" y="224942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PropertySubCategories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3182112" y="2048256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3182112" y="2048256"/>
            <a:ext cx="59436" cy="768096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3328416" y="2231136"/>
            <a:ext cx="402336" cy="402336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83" y="2311603"/>
            <a:ext cx="241402" cy="24140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822192" y="224942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PropertyPlans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6163056" y="2048256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8"/>
          <p:cNvSpPr/>
          <p:nvPr/>
        </p:nvSpPr>
        <p:spPr>
          <a:xfrm>
            <a:off x="6163056" y="2048256"/>
            <a:ext cx="59436" cy="768096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29"/>
          <p:cNvSpPr/>
          <p:nvPr/>
        </p:nvSpPr>
        <p:spPr>
          <a:xfrm>
            <a:off x="6309360" y="2231136"/>
            <a:ext cx="402336" cy="402336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827" y="2311603"/>
            <a:ext cx="241402" cy="24140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803136" y="224942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PolicyRequests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201168" y="3035808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2"/>
          <p:cNvSpPr/>
          <p:nvPr/>
        </p:nvSpPr>
        <p:spPr>
          <a:xfrm>
            <a:off x="201168" y="3035808"/>
            <a:ext cx="59436" cy="768096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3"/>
          <p:cNvSpPr/>
          <p:nvPr/>
        </p:nvSpPr>
        <p:spPr>
          <a:xfrm>
            <a:off x="347472" y="3218688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" y="3299155"/>
            <a:ext cx="241402" cy="24140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841248" y="3236976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3182112" y="3035808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36"/>
          <p:cNvSpPr/>
          <p:nvPr/>
        </p:nvSpPr>
        <p:spPr>
          <a:xfrm>
            <a:off x="3182112" y="3035808"/>
            <a:ext cx="59436" cy="768096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37"/>
          <p:cNvSpPr/>
          <p:nvPr/>
        </p:nvSpPr>
        <p:spPr>
          <a:xfrm>
            <a:off x="3328416" y="3218688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83" y="3299155"/>
            <a:ext cx="241402" cy="241402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3822192" y="3236976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200" dirty="0"/>
          </a:p>
        </p:txBody>
      </p:sp>
      <p:sp>
        <p:nvSpPr>
          <p:cNvPr id="50" name="Shape 39"/>
          <p:cNvSpPr/>
          <p:nvPr/>
        </p:nvSpPr>
        <p:spPr>
          <a:xfrm>
            <a:off x="6163056" y="3035808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0"/>
          <p:cNvSpPr/>
          <p:nvPr/>
        </p:nvSpPr>
        <p:spPr>
          <a:xfrm>
            <a:off x="6163056" y="3035808"/>
            <a:ext cx="59436" cy="768096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41"/>
          <p:cNvSpPr/>
          <p:nvPr/>
        </p:nvSpPr>
        <p:spPr>
          <a:xfrm>
            <a:off x="6309360" y="3218688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827" y="3299155"/>
            <a:ext cx="241402" cy="241402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803136" y="3236976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4206240"/>
            <a:ext cx="182880" cy="182880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512064" y="4187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relationships across all entities</a:t>
            </a:r>
            <a:endParaRPr lang="en-US" sz="1100" dirty="0"/>
          </a:p>
        </p:txBody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4480560"/>
            <a:ext cx="182880" cy="182880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512064" y="446227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email field for uniqueness</a:t>
            </a:r>
            <a:endParaRPr lang="en-US" sz="1100" dirty="0"/>
          </a:p>
        </p:txBody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4754880"/>
            <a:ext cx="182880" cy="182880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512064" y="47365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demo data for dev/testing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80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" y="162763"/>
            <a:ext cx="241402" cy="241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Rewards System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C00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System  ·  .NET 8 + Angular (v20+)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01168" y="768096"/>
            <a:ext cx="2011680" cy="3474720"/>
          </a:xfrm>
          <a:prstGeom prst="rect">
            <a:avLst/>
          </a:prstGeom>
          <a:solidFill>
            <a:schemeClr val="bg1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932688" y="877824"/>
            <a:ext cx="548640" cy="548640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932688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69264" y="1572768"/>
            <a:ext cx="475488" cy="475488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362" y="1667866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2608" y="21579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Signs Up</a:t>
            </a:r>
            <a:endParaRPr lang="en-US" sz="1150" dirty="0">
              <a:solidFill>
                <a:schemeClr val="accent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292608" y="26151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registers using a referral code from an existing customer</a:t>
            </a:r>
            <a:endParaRPr lang="en-US" sz="950" dirty="0">
              <a:solidFill>
                <a:schemeClr val="accent1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2212848" y="181051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0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2432304" y="768096"/>
            <a:ext cx="2011680" cy="3474720"/>
          </a:xfrm>
          <a:prstGeom prst="rect">
            <a:avLst/>
          </a:prstGeom>
          <a:solidFill>
            <a:schemeClr val="bg1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3163824" y="877824"/>
            <a:ext cx="548640" cy="548640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3163824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3200400" y="1572768"/>
            <a:ext cx="475488" cy="475488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5498" y="1667866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523744" y="21579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Detected</a:t>
            </a:r>
            <a:endParaRPr lang="en-US" sz="1150" dirty="0">
              <a:solidFill>
                <a:schemeClr val="accent1"/>
              </a:solidFill>
            </a:endParaRPr>
          </a:p>
        </p:txBody>
      </p:sp>
      <p:sp>
        <p:nvSpPr>
          <p:cNvPr id="23" name="Text 18"/>
          <p:cNvSpPr/>
          <p:nvPr/>
        </p:nvSpPr>
        <p:spPr>
          <a:xfrm>
            <a:off x="2523744" y="26151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automatically links the new account to the referrer</a:t>
            </a:r>
            <a:endParaRPr lang="en-US" sz="950" dirty="0">
              <a:solidFill>
                <a:schemeClr val="accent1"/>
              </a:solidFill>
            </a:endParaRPr>
          </a:p>
        </p:txBody>
      </p:sp>
      <p:sp>
        <p:nvSpPr>
          <p:cNvPr id="24" name="Text 19"/>
          <p:cNvSpPr/>
          <p:nvPr/>
        </p:nvSpPr>
        <p:spPr>
          <a:xfrm>
            <a:off x="4443984" y="181051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0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4663440" y="768096"/>
            <a:ext cx="2011680" cy="3474720"/>
          </a:xfrm>
          <a:prstGeom prst="rect">
            <a:avLst/>
          </a:prstGeom>
          <a:solidFill>
            <a:schemeClr val="bg1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5394960" y="877824"/>
            <a:ext cx="548640" cy="548640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539496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431536" y="1572768"/>
            <a:ext cx="475488" cy="475488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6634" y="1667866"/>
            <a:ext cx="285293" cy="28529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754880" y="21579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Credited</a:t>
            </a:r>
            <a:endParaRPr lang="en-US" sz="1150" dirty="0">
              <a:solidFill>
                <a:schemeClr val="accent1"/>
              </a:solidFill>
            </a:endParaRPr>
          </a:p>
        </p:txBody>
      </p:sp>
      <p:sp>
        <p:nvSpPr>
          <p:cNvPr id="31" name="Text 25"/>
          <p:cNvSpPr/>
          <p:nvPr/>
        </p:nvSpPr>
        <p:spPr>
          <a:xfrm>
            <a:off x="4754880" y="26151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 earns bonus reward points upon referred user's first policy</a:t>
            </a:r>
            <a:endParaRPr lang="en-US" sz="950" dirty="0">
              <a:solidFill>
                <a:schemeClr val="accent1"/>
              </a:solidFill>
            </a:endParaRPr>
          </a:p>
        </p:txBody>
      </p:sp>
      <p:sp>
        <p:nvSpPr>
          <p:cNvPr id="32" name="Text 26"/>
          <p:cNvSpPr/>
          <p:nvPr/>
        </p:nvSpPr>
        <p:spPr>
          <a:xfrm>
            <a:off x="6675120" y="181051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0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6894576" y="768096"/>
            <a:ext cx="2011680" cy="3474720"/>
          </a:xfrm>
          <a:prstGeom prst="rect">
            <a:avLst/>
          </a:prstGeom>
          <a:solidFill>
            <a:schemeClr val="bg1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7626096" y="877824"/>
            <a:ext cx="548640" cy="548640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9"/>
          <p:cNvSpPr/>
          <p:nvPr/>
        </p:nvSpPr>
        <p:spPr>
          <a:xfrm>
            <a:off x="7626096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7662672" y="1572768"/>
            <a:ext cx="475488" cy="475488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7770" y="1667866"/>
            <a:ext cx="285293" cy="285293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986016" y="21579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Rewards</a:t>
            </a:r>
            <a:endParaRPr lang="en-US" sz="1150" dirty="0">
              <a:solidFill>
                <a:schemeClr val="accent1"/>
              </a:solidFill>
            </a:endParaRPr>
          </a:p>
        </p:txBody>
      </p:sp>
      <p:sp>
        <p:nvSpPr>
          <p:cNvPr id="39" name="Text 32"/>
          <p:cNvSpPr/>
          <p:nvPr/>
        </p:nvSpPr>
        <p:spPr>
          <a:xfrm>
            <a:off x="6986016" y="26151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points redeemable for premium discounts or cashback</a:t>
            </a:r>
            <a:endParaRPr lang="en-US" sz="950" dirty="0">
              <a:solidFill>
                <a:schemeClr val="accent1"/>
              </a:solidFill>
            </a:endParaRPr>
          </a:p>
        </p:txBody>
      </p:sp>
      <p:sp>
        <p:nvSpPr>
          <p:cNvPr id="40" name="Shape 33"/>
          <p:cNvSpPr/>
          <p:nvPr/>
        </p:nvSpPr>
        <p:spPr>
          <a:xfrm>
            <a:off x="201168" y="4352544"/>
            <a:ext cx="2011680" cy="493776"/>
          </a:xfrm>
          <a:prstGeom prst="rect">
            <a:avLst/>
          </a:prstGeom>
          <a:solidFill>
            <a:srgbClr val="A000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4"/>
          <p:cNvSpPr/>
          <p:nvPr/>
        </p:nvSpPr>
        <p:spPr>
          <a:xfrm>
            <a:off x="201168" y="4370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</a:t>
            </a:r>
            <a:endParaRPr lang="en-US" sz="1500" dirty="0"/>
          </a:p>
        </p:txBody>
      </p:sp>
      <p:sp>
        <p:nvSpPr>
          <p:cNvPr id="42" name="Text 35"/>
          <p:cNvSpPr/>
          <p:nvPr/>
        </p:nvSpPr>
        <p:spPr>
          <a:xfrm>
            <a:off x="201168" y="4608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per Referral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2432304" y="4352544"/>
            <a:ext cx="2011680" cy="493776"/>
          </a:xfrm>
          <a:prstGeom prst="rect">
            <a:avLst/>
          </a:prstGeom>
          <a:solidFill>
            <a:srgbClr val="C000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37"/>
          <p:cNvSpPr/>
          <p:nvPr/>
        </p:nvSpPr>
        <p:spPr>
          <a:xfrm>
            <a:off x="2432304" y="4370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500" dirty="0"/>
          </a:p>
        </p:txBody>
      </p:sp>
      <p:sp>
        <p:nvSpPr>
          <p:cNvPr id="45" name="Text 38"/>
          <p:cNvSpPr/>
          <p:nvPr/>
        </p:nvSpPr>
        <p:spPr>
          <a:xfrm>
            <a:off x="2432304" y="4608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Referral Limit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46" name="Shape 39"/>
          <p:cNvSpPr/>
          <p:nvPr/>
        </p:nvSpPr>
        <p:spPr>
          <a:xfrm>
            <a:off x="4663440" y="4352544"/>
            <a:ext cx="2011680" cy="493776"/>
          </a:xfrm>
          <a:prstGeom prst="rect">
            <a:avLst/>
          </a:prstGeom>
          <a:solidFill>
            <a:srgbClr val="A000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0"/>
          <p:cNvSpPr/>
          <p:nvPr/>
        </p:nvSpPr>
        <p:spPr>
          <a:xfrm>
            <a:off x="4663440" y="4370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500" dirty="0"/>
          </a:p>
        </p:txBody>
      </p:sp>
      <p:sp>
        <p:nvSpPr>
          <p:cNvPr id="48" name="Text 41"/>
          <p:cNvSpPr/>
          <p:nvPr/>
        </p:nvSpPr>
        <p:spPr>
          <a:xfrm>
            <a:off x="4663440" y="4608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Detected</a:t>
            </a:r>
            <a:endParaRPr lang="en-US" sz="850" dirty="0"/>
          </a:p>
        </p:txBody>
      </p:sp>
      <p:sp>
        <p:nvSpPr>
          <p:cNvPr id="49" name="Shape 42"/>
          <p:cNvSpPr/>
          <p:nvPr/>
        </p:nvSpPr>
        <p:spPr>
          <a:xfrm>
            <a:off x="6894576" y="4352544"/>
            <a:ext cx="2011680" cy="493776"/>
          </a:xfrm>
          <a:prstGeom prst="rect">
            <a:avLst/>
          </a:prstGeom>
          <a:solidFill>
            <a:srgbClr val="C000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Text 43"/>
          <p:cNvSpPr/>
          <p:nvPr/>
        </p:nvSpPr>
        <p:spPr>
          <a:xfrm>
            <a:off x="6894576" y="4370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500" dirty="0"/>
          </a:p>
        </p:txBody>
      </p:sp>
      <p:sp>
        <p:nvSpPr>
          <p:cNvPr id="51" name="Text 44"/>
          <p:cNvSpPr/>
          <p:nvPr/>
        </p:nvSpPr>
        <p:spPr>
          <a:xfrm>
            <a:off x="6894576" y="4608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on Activation</a:t>
            </a:r>
            <a:endParaRPr lang="en-US" sz="8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770"/>
            <a:ext cx="9144000" cy="515389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100584"/>
            <a:ext cx="402336" cy="365760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69" y="158773"/>
            <a:ext cx="249382" cy="2493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005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Mode — Adaptive UI Theme Engine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9214"/>
            <a:ext cx="9144000" cy="45720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73297"/>
            <a:ext cx="9144000" cy="16209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80986"/>
            <a:ext cx="8321040" cy="13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System  ·  .NET 8 + Angular (v20+)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03504" y="861199"/>
            <a:ext cx="1828800" cy="216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7472" y="1383238"/>
            <a:ext cx="1828800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377440" y="1383238"/>
            <a:ext cx="1792224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47472" y="1986742"/>
            <a:ext cx="1828800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377440" y="1986742"/>
            <a:ext cx="1792224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66344" y="2487584"/>
            <a:ext cx="1828800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377440" y="2590246"/>
            <a:ext cx="1792224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47472" y="3193750"/>
            <a:ext cx="1828800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377440" y="3193750"/>
            <a:ext cx="1792224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377440" y="3797254"/>
            <a:ext cx="1792224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01168" y="4633930"/>
            <a:ext cx="4160520" cy="141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184648" y="861199"/>
            <a:ext cx="1828800" cy="216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928616" y="1383238"/>
            <a:ext cx="1828800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912864" y="1383238"/>
            <a:ext cx="1828800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928616" y="1986742"/>
            <a:ext cx="1828800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912864" y="1986742"/>
            <a:ext cx="1828800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4928616" y="2590246"/>
            <a:ext cx="1828800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912864" y="2590246"/>
            <a:ext cx="1828800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4928616" y="3193750"/>
            <a:ext cx="1828800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912864" y="3193750"/>
            <a:ext cx="1828800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4928616" y="3797254"/>
            <a:ext cx="1828800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912864" y="3797254"/>
            <a:ext cx="1828800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4782312" y="4633930"/>
            <a:ext cx="4160520" cy="141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9754699C-8338-7C79-AE9A-C6BCB4CA9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763721"/>
            <a:ext cx="8314006" cy="39132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System — Real-Time Alerts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System  ·  .NET 8 + Angular (v20+)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42062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EE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01168" y="749808"/>
            <a:ext cx="59436" cy="4041648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84048" y="87782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Notifications Work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84048" y="1188720"/>
            <a:ext cx="3858768" cy="2743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29184" y="1335024"/>
            <a:ext cx="402336" cy="402336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29184" y="1335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1335024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152704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event occurs (approval, claim, invoice, reward)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9184" y="1993392"/>
            <a:ext cx="402336" cy="402336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29184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" y="1993392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" y="218541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NotificationsController creates a Notification entity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9184" y="2651760"/>
            <a:ext cx="402336" cy="402336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2918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960" y="265176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2960" y="2843784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Notifications table with userId &amp; message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9184" y="3310128"/>
            <a:ext cx="402336" cy="402336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329184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22960" y="33101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22960" y="3502152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polls &amp; displays unread count + bell badge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29184" y="3968496"/>
            <a:ext cx="402336" cy="402336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329184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22960" y="396849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Read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22960" y="416052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notification → marked read in DB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626864" y="7498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Types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4626864" y="1060704"/>
            <a:ext cx="4297680" cy="621792"/>
          </a:xfrm>
          <a:prstGeom prst="rect">
            <a:avLst/>
          </a:prstGeom>
          <a:solidFill>
            <a:srgbClr val="D1FAE5"/>
          </a:solidFill>
          <a:ln w="12700">
            <a:solidFill>
              <a:srgbClr val="80002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1170432"/>
            <a:ext cx="329184" cy="32918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138928" y="11155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Approved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5138928" y="1371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policy #P2025 has been approved by admin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626864" y="1810512"/>
            <a:ext cx="4297680" cy="621792"/>
          </a:xfrm>
          <a:prstGeom prst="rect">
            <a:avLst/>
          </a:prstGeom>
          <a:solidFill>
            <a:srgbClr val="E0F2FE"/>
          </a:solidFill>
          <a:ln w="12700">
            <a:solidFill>
              <a:srgbClr val="A000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1920240"/>
            <a:ext cx="329184" cy="32918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138928" y="1865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0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Assigned</a:t>
            </a:r>
            <a:endParaRPr lang="en-US" sz="1150" dirty="0"/>
          </a:p>
        </p:txBody>
      </p:sp>
      <p:sp>
        <p:nvSpPr>
          <p:cNvPr id="41" name="Text 36"/>
          <p:cNvSpPr/>
          <p:nvPr/>
        </p:nvSpPr>
        <p:spPr>
          <a:xfrm>
            <a:off x="5138928" y="21214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Ravi Kumar has been assigned to your request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4626864" y="2560320"/>
            <a:ext cx="4297680" cy="621792"/>
          </a:xfrm>
          <a:prstGeom prst="rect">
            <a:avLst/>
          </a:prstGeom>
          <a:solidFill>
            <a:srgbClr val="FDF5F7"/>
          </a:solidFill>
          <a:ln w="12700">
            <a:solidFill>
              <a:srgbClr val="C0003A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304" y="2670048"/>
            <a:ext cx="329184" cy="329184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5138928" y="26151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Reminder</a:t>
            </a:r>
            <a:endParaRPr lang="en-US" sz="1150" dirty="0"/>
          </a:p>
        </p:txBody>
      </p:sp>
      <p:sp>
        <p:nvSpPr>
          <p:cNvPr id="45" name="Text 39"/>
          <p:cNvSpPr/>
          <p:nvPr/>
        </p:nvSpPr>
        <p:spPr>
          <a:xfrm>
            <a:off x="5138928" y="28712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premium payment is due on 15 Apr 2026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4626864" y="3310128"/>
            <a:ext cx="4297680" cy="621792"/>
          </a:xfrm>
          <a:prstGeom prst="rect">
            <a:avLst/>
          </a:prstGeom>
          <a:solidFill>
            <a:srgbClr val="FFF1F2"/>
          </a:solidFill>
          <a:ln w="12700">
            <a:solidFill>
              <a:srgbClr val="A000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8304" y="3419856"/>
            <a:ext cx="329184" cy="329184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5138928" y="33649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0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Rejected</a:t>
            </a:r>
            <a:endParaRPr lang="en-US" sz="1150" dirty="0"/>
          </a:p>
        </p:txBody>
      </p:sp>
      <p:sp>
        <p:nvSpPr>
          <p:cNvPr id="49" name="Text 42"/>
          <p:cNvSpPr/>
          <p:nvPr/>
        </p:nvSpPr>
        <p:spPr>
          <a:xfrm>
            <a:off x="5138928" y="36210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#C2025 was rejected — insufficient documents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4626864" y="4059936"/>
            <a:ext cx="4297680" cy="621792"/>
          </a:xfrm>
          <a:prstGeom prst="rect">
            <a:avLst/>
          </a:prstGeom>
          <a:solidFill>
            <a:srgbClr val="FFF7ED"/>
          </a:solidFill>
          <a:ln w="12700">
            <a:solidFill>
              <a:srgbClr val="C0003A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8304" y="4169664"/>
            <a:ext cx="329184" cy="329184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5138928" y="4114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Earned</a:t>
            </a:r>
            <a:endParaRPr lang="en-US" sz="1150" dirty="0"/>
          </a:p>
        </p:txBody>
      </p:sp>
      <p:sp>
        <p:nvSpPr>
          <p:cNvPr id="53" name="Text 45"/>
          <p:cNvSpPr/>
          <p:nvPr/>
        </p:nvSpPr>
        <p:spPr>
          <a:xfrm>
            <a:off x="5138928" y="43708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earned 50 reward points for referral!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80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A0002A"/>
          </a:solidFill>
          <a:ln w="12700">
            <a:solidFill>
              <a:srgbClr val="A00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" y="162763"/>
            <a:ext cx="241402" cy="241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Scale &amp; Key Highlights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A00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01168" y="768096"/>
            <a:ext cx="2779776" cy="1005840"/>
          </a:xfrm>
          <a:prstGeom prst="rect">
            <a:avLst/>
          </a:prstGeom>
          <a:solidFill>
            <a:schemeClr val="bg2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201168" y="859536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>
              <a:solidFill>
                <a:schemeClr val="accent2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201168" y="148132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Projects</a:t>
            </a:r>
            <a:endParaRPr lang="en-US" sz="1000" dirty="0">
              <a:solidFill>
                <a:schemeClr val="accent2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3182112" y="768096"/>
            <a:ext cx="2779776" cy="1005840"/>
          </a:xfrm>
          <a:prstGeom prst="rect">
            <a:avLst/>
          </a:prstGeom>
          <a:solidFill>
            <a:schemeClr val="bg2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182112" y="859536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800" dirty="0">
              <a:solidFill>
                <a:schemeClr val="accent2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3182112" y="148132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Entities</a:t>
            </a:r>
            <a:endParaRPr lang="en-US" sz="1000" dirty="0">
              <a:solidFill>
                <a:schemeClr val="accent2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163056" y="768096"/>
            <a:ext cx="2779776" cy="1005840"/>
          </a:xfrm>
          <a:prstGeom prst="rect">
            <a:avLst/>
          </a:prstGeom>
          <a:solidFill>
            <a:schemeClr val="bg2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163056" y="859536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800" dirty="0">
              <a:solidFill>
                <a:schemeClr val="accent2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6163056" y="148132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</a:t>
            </a:r>
            <a:endParaRPr lang="en-US" sz="1000" dirty="0">
              <a:solidFill>
                <a:schemeClr val="accent2"/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01168" y="1956816"/>
            <a:ext cx="2779776" cy="1005840"/>
          </a:xfrm>
          <a:prstGeom prst="rect">
            <a:avLst/>
          </a:prstGeom>
          <a:solidFill>
            <a:schemeClr val="bg2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01168" y="2048256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>
              <a:solidFill>
                <a:schemeClr val="accent2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201168" y="267004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000" dirty="0">
              <a:solidFill>
                <a:schemeClr val="accent2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182112" y="1956816"/>
            <a:ext cx="2779776" cy="1005840"/>
          </a:xfrm>
          <a:prstGeom prst="rect">
            <a:avLst/>
          </a:prstGeom>
          <a:solidFill>
            <a:schemeClr val="bg2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182112" y="2048256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3800" dirty="0">
              <a:solidFill>
                <a:schemeClr val="accent2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3182112" y="267004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>
              <a:solidFill>
                <a:schemeClr val="accent2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163056" y="1956816"/>
            <a:ext cx="2779776" cy="1005840"/>
          </a:xfrm>
          <a:prstGeom prst="rect">
            <a:avLst/>
          </a:prstGeom>
          <a:solidFill>
            <a:schemeClr val="bg2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163056" y="2048256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800" dirty="0">
              <a:solidFill>
                <a:schemeClr val="accent2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6163056" y="267004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Components</a:t>
            </a:r>
            <a:endParaRPr lang="en-US" sz="1000" dirty="0">
              <a:solidFill>
                <a:schemeClr val="accent2"/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256032" y="2999232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0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1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310128"/>
            <a:ext cx="182880" cy="1828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93776" y="329184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2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64" y="3310128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493008" y="329184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Fraud Validations</a:t>
            </a:r>
            <a:endParaRPr lang="en-US" sz="12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310128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492240" y="329184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Reward System</a:t>
            </a:r>
            <a:endParaRPr lang="en-US" sz="12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785616"/>
            <a:ext cx="182880" cy="1828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93776" y="37673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Mode UI</a:t>
            </a:r>
            <a:endParaRPr lang="en-US" sz="12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64" y="3785616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493008" y="37673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2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785616"/>
            <a:ext cx="182880" cy="1828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492240" y="37673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Enterprise-Level Design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1828800" y="4480560"/>
            <a:ext cx="5486400" cy="347472"/>
          </a:xfrm>
          <a:prstGeom prst="rect">
            <a:avLst/>
          </a:prstGeom>
          <a:solidFill>
            <a:srgbClr val="A0002A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2"/>
          <p:cNvSpPr/>
          <p:nvPr/>
        </p:nvSpPr>
        <p:spPr>
          <a:xfrm>
            <a:off x="1828800" y="44805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 .NET 8  ·  Angular (v20+)  ·  Clean Architecture  ·  Enterprise Grade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5">
            <a:extLst>
              <a:ext uri="{FF2B5EF4-FFF2-40B4-BE49-F238E27FC236}">
                <a16:creationId xmlns:a16="http://schemas.microsoft.com/office/drawing/2014/main" id="{651DA9A7-11D5-ECD4-A2D3-BF7ED4D1FBF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 lIns="457200" tIns="274638" rIns="457200" bIns="274638" rtlCol="0" anchor="ctr"/>
          <a:lstStyle/>
          <a:p>
            <a:pPr algn="ctr"/>
            <a:r>
              <a:rPr lang="en-IN" sz="3600" b="1" dirty="0">
                <a:solidFill>
                  <a:schemeClr val="accent2"/>
                </a:solidFill>
              </a:rPr>
              <a:t>THANK YOU</a:t>
            </a:r>
          </a:p>
          <a:p>
            <a:pPr algn="ctr"/>
            <a:endParaRPr lang="en-IN" sz="600" dirty="0"/>
          </a:p>
          <a:p>
            <a:pPr algn="ctr"/>
            <a:r>
              <a:rPr lang="en-IN" sz="1000" dirty="0">
                <a:solidFill>
                  <a:schemeClr val="accent2"/>
                </a:solidFill>
              </a:rPr>
              <a:t>I would like to sincerely thank </a:t>
            </a:r>
            <a:r>
              <a:rPr lang="en-IN" sz="1000" b="1" dirty="0">
                <a:solidFill>
                  <a:schemeClr val="accent2"/>
                </a:solidFill>
              </a:rPr>
              <a:t>The Hartford</a:t>
            </a:r>
            <a:r>
              <a:rPr lang="en-IN" sz="1000" dirty="0">
                <a:solidFill>
                  <a:schemeClr val="accent2"/>
                </a:solidFill>
              </a:rPr>
              <a:t> for providing this opportunity and supporting learning and innovation.</a:t>
            </a:r>
          </a:p>
          <a:p>
            <a:pPr algn="ctr"/>
            <a:endParaRPr lang="en-IN" sz="500" dirty="0">
              <a:solidFill>
                <a:schemeClr val="accent2"/>
              </a:solidFill>
            </a:endParaRPr>
          </a:p>
          <a:p>
            <a:pPr algn="ctr"/>
            <a:r>
              <a:rPr lang="en-IN" sz="1000" dirty="0">
                <a:solidFill>
                  <a:schemeClr val="accent2"/>
                </a:solidFill>
              </a:rPr>
              <a:t>I extend my gratitude to </a:t>
            </a:r>
            <a:r>
              <a:rPr lang="en-IN" sz="1000" b="1" dirty="0">
                <a:solidFill>
                  <a:schemeClr val="accent2"/>
                </a:solidFill>
              </a:rPr>
              <a:t>GUVI and the entire team</a:t>
            </a:r>
            <a:r>
              <a:rPr lang="en-IN" sz="1000" dirty="0">
                <a:solidFill>
                  <a:schemeClr val="accent2"/>
                </a:solidFill>
              </a:rPr>
              <a:t> for organizing and guiding this program.</a:t>
            </a:r>
          </a:p>
          <a:p>
            <a:pPr algn="ctr"/>
            <a:endParaRPr lang="en-IN" sz="500" dirty="0">
              <a:solidFill>
                <a:schemeClr val="accent2"/>
              </a:solidFill>
            </a:endParaRPr>
          </a:p>
          <a:p>
            <a:pPr algn="ctr"/>
            <a:r>
              <a:rPr lang="en-IN" sz="1000" dirty="0">
                <a:solidFill>
                  <a:schemeClr val="accent2"/>
                </a:solidFill>
              </a:rPr>
              <a:t>Special thanks to </a:t>
            </a:r>
            <a:r>
              <a:rPr lang="en-IN" sz="1000" b="1" dirty="0">
                <a:solidFill>
                  <a:schemeClr val="accent2"/>
                </a:solidFill>
              </a:rPr>
              <a:t>Surya Thammiraju</a:t>
            </a:r>
            <a:r>
              <a:rPr lang="en-IN" sz="1000" dirty="0">
                <a:solidFill>
                  <a:schemeClr val="accent2"/>
                </a:solidFill>
              </a:rPr>
              <a:t>, Head and Managing Director, India – The Hartford, for leadership and encouragement.</a:t>
            </a:r>
          </a:p>
          <a:p>
            <a:pPr algn="ctr"/>
            <a:endParaRPr lang="en-IN" sz="500" dirty="0">
              <a:solidFill>
                <a:schemeClr val="accent2"/>
              </a:solidFill>
            </a:endParaRPr>
          </a:p>
          <a:p>
            <a:pPr algn="ctr"/>
            <a:r>
              <a:rPr lang="en-IN" sz="1000" dirty="0">
                <a:solidFill>
                  <a:schemeClr val="accent2"/>
                </a:solidFill>
              </a:rPr>
              <a:t>Heartfelt thanks to </a:t>
            </a:r>
            <a:r>
              <a:rPr lang="en-IN" sz="1000" b="1" dirty="0">
                <a:solidFill>
                  <a:schemeClr val="accent2"/>
                </a:solidFill>
              </a:rPr>
              <a:t>Ranjan Bhatnagar</a:t>
            </a:r>
            <a:r>
              <a:rPr lang="en-IN" sz="1000" dirty="0">
                <a:solidFill>
                  <a:schemeClr val="accent2"/>
                </a:solidFill>
              </a:rPr>
              <a:t>, Microsoft Certified Instructor with 30+ years of experience, for sharing valuable knowledge and insights.</a:t>
            </a:r>
          </a:p>
          <a:p>
            <a:pPr algn="ctr"/>
            <a:endParaRPr lang="en-IN" sz="500" dirty="0">
              <a:solidFill>
                <a:schemeClr val="accent2"/>
              </a:solidFill>
            </a:endParaRPr>
          </a:p>
          <a:p>
            <a:pPr algn="ctr"/>
            <a:r>
              <a:rPr lang="en-IN" sz="1000" dirty="0">
                <a:solidFill>
                  <a:schemeClr val="accent2"/>
                </a:solidFill>
              </a:rPr>
              <a:t>Thanks to </a:t>
            </a:r>
            <a:r>
              <a:rPr lang="en-IN" sz="1000" b="1" dirty="0">
                <a:solidFill>
                  <a:schemeClr val="accent2"/>
                </a:solidFill>
              </a:rPr>
              <a:t>Koti Rama Murthy Davuluri</a:t>
            </a:r>
            <a:r>
              <a:rPr lang="en-IN" sz="1000" dirty="0">
                <a:solidFill>
                  <a:schemeClr val="accent2"/>
                </a:solidFill>
              </a:rPr>
              <a:t>, Senior Staff Software Engineer at The Hartford, for guidance and technical support throughout the journey.</a:t>
            </a:r>
          </a:p>
        </p:txBody>
      </p:sp>
    </p:spTree>
    <p:extLst>
      <p:ext uri="{BB962C8B-B14F-4D97-AF65-F5344CB8AC3E}">
        <p14:creationId xmlns:p14="http://schemas.microsoft.com/office/powerpoint/2010/main" val="3775672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A3540"/>
      </a:dk2>
      <a:lt2>
        <a:srgbClr val="F4EEF0"/>
      </a:lt2>
      <a:accent1>
        <a:srgbClr val="800020"/>
      </a:accent1>
      <a:accent2>
        <a:srgbClr val="C0003A"/>
      </a:accent2>
      <a:accent3>
        <a:srgbClr val="C5B0B8"/>
      </a:accent3>
      <a:accent4>
        <a:srgbClr val="A0002A"/>
      </a:accent4>
      <a:accent5>
        <a:srgbClr val="A0002A"/>
      </a:accent5>
      <a:accent6>
        <a:srgbClr val="C0003A"/>
      </a:accent6>
      <a:hlink>
        <a:srgbClr val="0563C1"/>
      </a:hlink>
      <a:folHlink>
        <a:srgbClr val="80002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A3540"/>
      </a:dk2>
      <a:lt2>
        <a:srgbClr val="F4EEF0"/>
      </a:lt2>
      <a:accent1>
        <a:srgbClr val="800020"/>
      </a:accent1>
      <a:accent2>
        <a:srgbClr val="C0003A"/>
      </a:accent2>
      <a:accent3>
        <a:srgbClr val="C5B0B8"/>
      </a:accent3>
      <a:accent4>
        <a:srgbClr val="A0002A"/>
      </a:accent4>
      <a:accent5>
        <a:srgbClr val="A0002A"/>
      </a:accent5>
      <a:accent6>
        <a:srgbClr val="C0003A"/>
      </a:accent6>
      <a:hlink>
        <a:srgbClr val="0563C1"/>
      </a:hlink>
      <a:folHlink>
        <a:srgbClr val="80002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1323</Words>
  <Application>Microsoft Office PowerPoint</Application>
  <PresentationFormat>On-screen Show (16:9)</PresentationFormat>
  <Paragraphs>382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Property Insurance System</dc:title>
  <dc:subject>PptxGenJS Presentation</dc:subject>
  <dc:creator>PptxGenJS</dc:creator>
  <cp:lastModifiedBy>srinidhi kommawar</cp:lastModifiedBy>
  <cp:revision>13</cp:revision>
  <dcterms:created xsi:type="dcterms:W3CDTF">2026-03-04T09:26:13Z</dcterms:created>
  <dcterms:modified xsi:type="dcterms:W3CDTF">2026-03-11T16:39:07Z</dcterms:modified>
</cp:coreProperties>
</file>